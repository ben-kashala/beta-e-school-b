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  <p:bold r:id="rId14"/>
    </p:embeddedFont>
    <p:embeddedFont>
      <p:font typeface="Roboto Mono Medium" panose="00000009000000000000" pitchFamily="49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7743" autoAdjust="0"/>
  </p:normalViewPr>
  <p:slideViewPr>
    <p:cSldViewPr snapToGrid="0" snapToObjects="1">
      <p:cViewPr varScale="1">
        <p:scale>
          <a:sx n="47" d="100"/>
          <a:sy n="47" d="100"/>
        </p:scale>
        <p:origin x="11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438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E-School est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plateforme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SaaS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conçue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spécifiquement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pour structurer,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digitaliser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et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moderniser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 gestion des écoles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privées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RDC et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Afrique.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Aujourd'hui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je vous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présente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solution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prête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à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être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industrialisée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et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déployée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à grande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échelle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9682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E-SCHOOL</a:t>
            </a:r>
            <a:endParaRPr lang="en-US" sz="6000" b="1" dirty="0">
              <a:solidFill>
                <a:srgbClr val="00B0F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1767721"/>
            <a:ext cx="5893881" cy="22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Plateforme scolaire digitale pour les écoles privées en RDC et en Afrique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437578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00B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Présenté par : Alidor SABUE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4993838"/>
            <a:ext cx="7556421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E-School est une plateforme SaaS conçue spécifiquement pour structurer, digitaliser et moderniser la gestion des écoles privées en RDC et en Afrique. Aujourd'hui, je vous présente une solution prête à être industrialisée et déployée à grande échelle.</a:t>
            </a:r>
            <a:endParaRPr lang="en-US" sz="22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B89BE68-20E9-DC11-75F5-1BD3386E0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2559" y="0"/>
            <a:ext cx="7385257" cy="763942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A16E88-E336-F6FB-AD1A-7BD1A79D0F04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7701"/>
            <a:ext cx="32309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CONTEXTE &amp; PROBLÈME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1204120"/>
            <a:ext cx="122486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réalité des écoles privées en RDC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93790" y="215714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Défis actuels</a:t>
            </a:r>
            <a:endParaRPr lang="en-US" sz="2800" b="1" dirty="0"/>
          </a:p>
        </p:txBody>
      </p:sp>
      <p:sp>
        <p:nvSpPr>
          <p:cNvPr id="5" name="Text 3"/>
          <p:cNvSpPr/>
          <p:nvPr/>
        </p:nvSpPr>
        <p:spPr>
          <a:xfrm>
            <a:off x="793790" y="3095744"/>
            <a:ext cx="7758539" cy="466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Gestion administrative manuelle ou Excel fragmenté</a:t>
            </a:r>
            <a:endParaRPr lang="en-US" sz="3200" dirty="0"/>
          </a:p>
          <a:p>
            <a:pPr marL="342900" indent="-342900" algn="l">
              <a:buSzPct val="100000"/>
              <a:buChar char="•"/>
            </a:pP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Suivi des paiements non </a:t>
            </a:r>
            <a:r>
              <a:rPr lang="en-US" sz="2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structuré</a:t>
            </a:r>
            <a:endParaRPr lang="en-US" sz="3200" dirty="0"/>
          </a:p>
          <a:p>
            <a:pPr marL="342900" indent="-342900" algn="l">
              <a:buSzPct val="100000"/>
              <a:buChar char="•"/>
            </a:pP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Difficulté de communication école </a:t>
            </a:r>
            <a:r>
              <a:rPr lang="en-US" sz="3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parents</a:t>
            </a:r>
            <a:endParaRPr lang="en-US" sz="3200" dirty="0"/>
          </a:p>
          <a:p>
            <a:pPr marL="342900" indent="-342900" algn="l">
              <a:buSzPct val="100000"/>
              <a:buChar char="•"/>
            </a:pP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Absence d'e-learning organisé</a:t>
            </a:r>
            <a:endParaRPr lang="en-US" sz="3200" dirty="0"/>
          </a:p>
          <a:p>
            <a:pPr marL="342900" indent="-342900" algn="l">
              <a:buSzPct val="100000"/>
              <a:buChar char="•"/>
            </a:pP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Faible connectivité internet</a:t>
            </a:r>
            <a:endParaRPr lang="en-US" sz="3200" dirty="0"/>
          </a:p>
          <a:p>
            <a:pPr marL="342900" indent="-342900" algn="l">
              <a:buSzPct val="100000"/>
              <a:buChar char="•"/>
            </a:pPr>
            <a:r>
              <a:rPr lang="en-US" sz="3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Forte dépendance au Mobile Money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785412" y="3095744"/>
            <a:ext cx="5222173" cy="3532108"/>
          </a:xfrm>
          <a:prstGeom prst="roundRect">
            <a:avLst>
              <a:gd name="adj" fmla="val 963"/>
            </a:avLst>
          </a:prstGeom>
          <a:solidFill>
            <a:srgbClr val="DCFF50"/>
          </a:solidFill>
          <a:ln/>
        </p:spPr>
      </p:sp>
      <p:sp>
        <p:nvSpPr>
          <p:cNvPr id="7" name="Text 5"/>
          <p:cNvSpPr/>
          <p:nvPr/>
        </p:nvSpPr>
        <p:spPr>
          <a:xfrm>
            <a:off x="8953899" y="325144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Impact</a:t>
            </a:r>
            <a:endParaRPr lang="en-US" sz="3600" b="1" dirty="0"/>
          </a:p>
        </p:txBody>
      </p:sp>
      <p:sp>
        <p:nvSpPr>
          <p:cNvPr id="8" name="Text 6"/>
          <p:cNvSpPr/>
          <p:nvPr/>
        </p:nvSpPr>
        <p:spPr>
          <a:xfrm>
            <a:off x="9090212" y="3974663"/>
            <a:ext cx="4690558" cy="2228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00B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Perte de revenus</a:t>
            </a:r>
            <a:endParaRPr lang="en-US" sz="2400" b="1" dirty="0">
              <a:solidFill>
                <a:srgbClr val="00B0F0"/>
              </a:solidFill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00B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Manque de transparence</a:t>
            </a:r>
            <a:endParaRPr lang="en-US" sz="2400" b="1" dirty="0">
              <a:solidFill>
                <a:srgbClr val="00B0F0"/>
              </a:solidFill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00B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Charge administrative élevée</a:t>
            </a:r>
            <a:endParaRPr lang="en-US" sz="2400" b="1" dirty="0">
              <a:solidFill>
                <a:srgbClr val="00B0F0"/>
              </a:solidFill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00B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Difficulté de croissance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858C72-18DF-85FF-8308-DE9A6F7A2D69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935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08797" y="2319366"/>
            <a:ext cx="251174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OPPORTUNITÉ DE MARCHÉ</a:t>
            </a:r>
          </a:p>
        </p:txBody>
      </p:sp>
      <p:sp>
        <p:nvSpPr>
          <p:cNvPr id="4" name="Text 1"/>
          <p:cNvSpPr/>
          <p:nvPr/>
        </p:nvSpPr>
        <p:spPr>
          <a:xfrm>
            <a:off x="1812846" y="2773722"/>
            <a:ext cx="8133278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Un potentiel business considérable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1812846" y="3943112"/>
            <a:ext cx="2812942" cy="1066086"/>
          </a:xfrm>
          <a:prstGeom prst="roundRect">
            <a:avLst>
              <a:gd name="adj" fmla="val 2244"/>
            </a:avLst>
          </a:prstGeom>
          <a:solidFill>
            <a:srgbClr val="404040"/>
          </a:solidFill>
          <a:ln/>
        </p:spPr>
      </p:sp>
      <p:sp>
        <p:nvSpPr>
          <p:cNvPr id="6" name="Text 3"/>
          <p:cNvSpPr/>
          <p:nvPr/>
        </p:nvSpPr>
        <p:spPr>
          <a:xfrm>
            <a:off x="1972270" y="4102537"/>
            <a:ext cx="2507694" cy="74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Plus de 70% des écoles privées non digitalisées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751426" y="3943112"/>
            <a:ext cx="2956278" cy="1066086"/>
          </a:xfrm>
          <a:prstGeom prst="roundRect">
            <a:avLst>
              <a:gd name="adj" fmla="val 2244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4910849" y="4102537"/>
            <a:ext cx="2796855" cy="74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Croissance continue du secteur privé éducatif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7819395" y="3950004"/>
            <a:ext cx="2667119" cy="1066086"/>
          </a:xfrm>
          <a:prstGeom prst="roundRect">
            <a:avLst>
              <a:gd name="adj" fmla="val 2244"/>
            </a:avLst>
          </a:prstGeom>
          <a:solidFill>
            <a:srgbClr val="404040"/>
          </a:solidFill>
          <a:ln/>
        </p:spPr>
      </p:sp>
      <p:sp>
        <p:nvSpPr>
          <p:cNvPr id="10" name="Text 7"/>
          <p:cNvSpPr/>
          <p:nvPr/>
        </p:nvSpPr>
        <p:spPr>
          <a:xfrm>
            <a:off x="7978820" y="4102537"/>
            <a:ext cx="2507694" cy="74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Augmentation du taux d'équipement smartphone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10652340" y="3943112"/>
            <a:ext cx="2667119" cy="1066086"/>
          </a:xfrm>
          <a:prstGeom prst="roundRect">
            <a:avLst>
              <a:gd name="adj" fmla="val 2244"/>
            </a:avLst>
          </a:prstGeom>
          <a:solidFill>
            <a:srgbClr val="404040"/>
          </a:solidFill>
          <a:ln/>
        </p:spPr>
      </p:sp>
      <p:sp>
        <p:nvSpPr>
          <p:cNvPr id="12" name="Text 9"/>
          <p:cNvSpPr/>
          <p:nvPr/>
        </p:nvSpPr>
        <p:spPr>
          <a:xfrm>
            <a:off x="10867823" y="4102537"/>
            <a:ext cx="2507694" cy="74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Parents plus exigeants sur la transparence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812846" y="5177314"/>
            <a:ext cx="11004590" cy="2063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Opportunité :</a:t>
            </a:r>
            <a:r>
              <a:rPr lang="en-US" sz="4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Devenir la solution SaaS de référence pour les écoles privées en Afrique centrale.</a:t>
            </a:r>
            <a:endParaRPr lang="en-US" sz="43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3434C2-7F06-2786-5F3D-C0521EBF6018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302" y="581561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LA SOLUTION</a:t>
            </a:r>
          </a:p>
        </p:txBody>
      </p:sp>
      <p:sp>
        <p:nvSpPr>
          <p:cNvPr id="3" name="Text 1"/>
          <p:cNvSpPr/>
          <p:nvPr/>
        </p:nvSpPr>
        <p:spPr>
          <a:xfrm>
            <a:off x="703302" y="1123712"/>
            <a:ext cx="5727502" cy="62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E-SCHOOL</a:t>
            </a:r>
            <a:endParaRPr lang="en-US" sz="3950" dirty="0"/>
          </a:p>
        </p:txBody>
      </p:sp>
      <p:sp>
        <p:nvSpPr>
          <p:cNvPr id="4" name="Text 2"/>
          <p:cNvSpPr/>
          <p:nvPr/>
        </p:nvSpPr>
        <p:spPr>
          <a:xfrm>
            <a:off x="703302" y="2018824"/>
            <a:ext cx="13223796" cy="378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Plateforme intégrée couvrant tout le cycle de vie de l'élève :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03302" y="2798326"/>
            <a:ext cx="452080" cy="452080"/>
          </a:xfrm>
          <a:prstGeom prst="roundRect">
            <a:avLst>
              <a:gd name="adj" fmla="val 6668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</p:sp>
      <p:sp>
        <p:nvSpPr>
          <p:cNvPr id="6" name="Text 4"/>
          <p:cNvSpPr/>
          <p:nvPr/>
        </p:nvSpPr>
        <p:spPr>
          <a:xfrm>
            <a:off x="1333381" y="2867382"/>
            <a:ext cx="4068604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Inscription &amp; réinscription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03302" y="3606403"/>
            <a:ext cx="452080" cy="452080"/>
          </a:xfrm>
          <a:prstGeom prst="roundRect">
            <a:avLst>
              <a:gd name="adj" fmla="val 6668"/>
            </a:avLst>
          </a:prstGeom>
          <a:solidFill>
            <a:srgbClr val="00B050"/>
          </a:solidFill>
          <a:ln/>
        </p:spPr>
      </p:sp>
      <p:sp>
        <p:nvSpPr>
          <p:cNvPr id="8" name="Text 6"/>
          <p:cNvSpPr/>
          <p:nvPr/>
        </p:nvSpPr>
        <p:spPr>
          <a:xfrm>
            <a:off x="1333381" y="3675459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 err="1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Suivi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</a:t>
            </a:r>
            <a:r>
              <a:rPr lang="en-US" sz="2400" dirty="0" err="1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académique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(</a:t>
            </a:r>
            <a:r>
              <a:rPr lang="en-US" sz="2400" dirty="0" err="1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scolaire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03302" y="4414480"/>
            <a:ext cx="452080" cy="452080"/>
          </a:xfrm>
          <a:prstGeom prst="roundRect">
            <a:avLst>
              <a:gd name="adj" fmla="val 6668"/>
            </a:avLst>
          </a:prstGeom>
          <a:solidFill>
            <a:srgbClr val="00B0F0"/>
          </a:solidFill>
          <a:ln/>
        </p:spPr>
      </p:sp>
      <p:sp>
        <p:nvSpPr>
          <p:cNvPr id="10" name="Text 8"/>
          <p:cNvSpPr/>
          <p:nvPr/>
        </p:nvSpPr>
        <p:spPr>
          <a:xfrm>
            <a:off x="1333381" y="4483537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Paiements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03302" y="5222558"/>
            <a:ext cx="452080" cy="452080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381" y="5291614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Communication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03302" y="6030635"/>
            <a:ext cx="452080" cy="452080"/>
          </a:xfrm>
          <a:prstGeom prst="roundRect">
            <a:avLst>
              <a:gd name="adj" fmla="val 6668"/>
            </a:avLst>
          </a:prstGeom>
          <a:solidFill>
            <a:srgbClr val="002060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381" y="6099691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E-learning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03302" y="6838712"/>
            <a:ext cx="452080" cy="452080"/>
          </a:xfrm>
          <a:prstGeom prst="roundRect">
            <a:avLst>
              <a:gd name="adj" fmla="val 6668"/>
            </a:avLst>
          </a:prstGeom>
          <a:solidFill>
            <a:schemeClr val="accent5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381" y="6907768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Encadrement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46256" y="5911274"/>
            <a:ext cx="3014424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Disponible sur :</a:t>
            </a:r>
            <a:endParaRPr lang="en-US" sz="2350" dirty="0"/>
          </a:p>
        </p:txBody>
      </p:sp>
      <p:sp>
        <p:nvSpPr>
          <p:cNvPr id="18" name="Text 16"/>
          <p:cNvSpPr/>
          <p:nvPr/>
        </p:nvSpPr>
        <p:spPr>
          <a:xfrm>
            <a:off x="7348699" y="6494166"/>
            <a:ext cx="4309586" cy="103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(administration)</a:t>
            </a:r>
            <a:endParaRPr lang="en-US" sz="20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Android &amp; iOS</a:t>
            </a:r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REST</a:t>
            </a:r>
            <a:endParaRPr lang="en-US" sz="20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20AC03E5-FD76-BC2B-BE17-A97460A7158C}"/>
              </a:ext>
            </a:extLst>
          </p:cNvPr>
          <p:cNvSpPr/>
          <p:nvPr/>
        </p:nvSpPr>
        <p:spPr>
          <a:xfrm>
            <a:off x="6718620" y="2769870"/>
            <a:ext cx="452080" cy="452080"/>
          </a:xfrm>
          <a:prstGeom prst="roundRect">
            <a:avLst>
              <a:gd name="adj" fmla="val 6668"/>
            </a:avLst>
          </a:prstGeom>
          <a:solidFill>
            <a:srgbClr val="FFC000"/>
          </a:solidFill>
          <a:ln/>
        </p:spPr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6E2982B8-EF8E-A080-C770-246AFEAF8E10}"/>
              </a:ext>
            </a:extLst>
          </p:cNvPr>
          <p:cNvSpPr/>
          <p:nvPr/>
        </p:nvSpPr>
        <p:spPr>
          <a:xfrm>
            <a:off x="7348699" y="2838926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Bibliothèque numérique</a:t>
            </a:r>
            <a:endParaRPr lang="en-US" sz="240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169011FD-0B2E-4632-FD96-32FBA252C4AD}"/>
              </a:ext>
            </a:extLst>
          </p:cNvPr>
          <p:cNvSpPr/>
          <p:nvPr/>
        </p:nvSpPr>
        <p:spPr>
          <a:xfrm>
            <a:off x="6718620" y="3537347"/>
            <a:ext cx="452080" cy="452080"/>
          </a:xfrm>
          <a:prstGeom prst="roundRect">
            <a:avLst>
              <a:gd name="adj" fmla="val 6668"/>
            </a:avLst>
          </a:prstGeom>
          <a:solidFill>
            <a:srgbClr val="92D050"/>
          </a:solidFill>
          <a:ln/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930A3746-B9D8-1236-ACE7-32B50856D2DA}"/>
              </a:ext>
            </a:extLst>
          </p:cNvPr>
          <p:cNvSpPr/>
          <p:nvPr/>
        </p:nvSpPr>
        <p:spPr>
          <a:xfrm>
            <a:off x="7348699" y="3606403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Gestion des </a:t>
            </a:r>
            <a:r>
              <a:rPr lang="en-US" sz="2400" dirty="0" err="1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réunions</a:t>
            </a:r>
            <a:endParaRPr lang="en-US" sz="24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397CFFB2-BB3A-C97D-6564-967259E994D5}"/>
              </a:ext>
            </a:extLst>
          </p:cNvPr>
          <p:cNvSpPr/>
          <p:nvPr/>
        </p:nvSpPr>
        <p:spPr>
          <a:xfrm>
            <a:off x="6718620" y="4257497"/>
            <a:ext cx="452080" cy="452080"/>
          </a:xfrm>
          <a:prstGeom prst="roundRect">
            <a:avLst>
              <a:gd name="adj" fmla="val 6668"/>
            </a:avLst>
          </a:prstGeom>
          <a:solidFill>
            <a:srgbClr val="7030A0"/>
          </a:solidFill>
          <a:ln/>
        </p:spPr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FEA5ED64-0157-F235-2723-8303288520ED}"/>
              </a:ext>
            </a:extLst>
          </p:cNvPr>
          <p:cNvSpPr/>
          <p:nvPr/>
        </p:nvSpPr>
        <p:spPr>
          <a:xfrm>
            <a:off x="7348699" y="4326553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 err="1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Comptabilité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 et </a:t>
            </a:r>
            <a:r>
              <a:rPr lang="en-US" sz="2400" dirty="0" err="1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caisse</a:t>
            </a:r>
            <a:endParaRPr lang="en-US" sz="2400" dirty="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87D9ABBB-82DE-D3B2-4695-3CE0281C9A8D}"/>
              </a:ext>
            </a:extLst>
          </p:cNvPr>
          <p:cNvSpPr/>
          <p:nvPr/>
        </p:nvSpPr>
        <p:spPr>
          <a:xfrm>
            <a:off x="6718620" y="4908590"/>
            <a:ext cx="452080" cy="452080"/>
          </a:xfrm>
          <a:prstGeom prst="roundRect">
            <a:avLst>
              <a:gd name="adj" fmla="val 6668"/>
            </a:avLst>
          </a:prstGeom>
          <a:solidFill>
            <a:schemeClr val="tx2"/>
          </a:solidFill>
          <a:ln/>
        </p:spPr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A2EA1CFD-CF14-67E9-B2D4-86A606A54B7F}"/>
              </a:ext>
            </a:extLst>
          </p:cNvPr>
          <p:cNvSpPr/>
          <p:nvPr/>
        </p:nvSpPr>
        <p:spPr>
          <a:xfrm>
            <a:off x="7348699" y="4977646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Gestion école</a:t>
            </a:r>
            <a:endParaRPr lang="en-US" sz="2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B35ED5-CF81-B532-5B18-5B943110C81D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221" y="598121"/>
            <a:ext cx="37411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ARCHITECTURE TECHNIQUE</a:t>
            </a:r>
          </a:p>
        </p:txBody>
      </p:sp>
      <p:sp>
        <p:nvSpPr>
          <p:cNvPr id="3" name="Text 1"/>
          <p:cNvSpPr/>
          <p:nvPr/>
        </p:nvSpPr>
        <p:spPr>
          <a:xfrm>
            <a:off x="649962" y="1204541"/>
            <a:ext cx="125889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Une infrastructure robuste et moderne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293388"/>
            <a:ext cx="3090505" cy="3136702"/>
          </a:xfrm>
          <a:prstGeom prst="roundRect">
            <a:avLst>
              <a:gd name="adj" fmla="val 1101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3550682"/>
            <a:ext cx="2575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Backend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4041100"/>
            <a:ext cx="2575917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Django REST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Auth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Celery + Redis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1109" y="3293388"/>
            <a:ext cx="3090624" cy="3136702"/>
          </a:xfrm>
          <a:prstGeom prst="roundRect">
            <a:avLst>
              <a:gd name="adj" fmla="val 1101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68403" y="3550682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Frontend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68403" y="4041100"/>
            <a:ext cx="25760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+ TypeScript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293388"/>
            <a:ext cx="3090624" cy="3136702"/>
          </a:xfrm>
          <a:prstGeom prst="roundRect">
            <a:avLst>
              <a:gd name="adj" fmla="val 1101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5842" y="3550682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Mobile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4041100"/>
            <a:ext cx="2576036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Flutter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Offline-first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10745986" y="3293388"/>
            <a:ext cx="3090624" cy="3136702"/>
          </a:xfrm>
          <a:prstGeom prst="roundRect">
            <a:avLst>
              <a:gd name="adj" fmla="val 1101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03280" y="3550682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Paiements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03280" y="4041100"/>
            <a:ext cx="2576036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Stripe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Money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FF489-6804-B5B0-7B48-6A21A58BDEB0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7404"/>
            <a:ext cx="3060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MATURITÉ TECHNIQUE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1780342"/>
            <a:ext cx="85060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Ce n'est pas un prototype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82928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C'est une solution structurée et industrialisable.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651290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10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793790" y="4683085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modules fonctionnels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25278" y="365129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45+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4125278" y="4683085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modèles de données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6884" y="365129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50+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46830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endpoints API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8491" y="365129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</a:rPr>
              <a:t>6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10788491" y="4683085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rôles utilisateurs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35473" y="5808261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Documentation API complète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Dockerisé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Tests automatisés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E4146D-A217-738C-B15F-74F884D6CD44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8442" y="557353"/>
            <a:ext cx="2169200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MODULES STRATÉGIQUES</a:t>
            </a:r>
          </a:p>
        </p:txBody>
      </p:sp>
      <p:sp>
        <p:nvSpPr>
          <p:cNvPr id="3" name="Text 1"/>
          <p:cNvSpPr/>
          <p:nvPr/>
        </p:nvSpPr>
        <p:spPr>
          <a:xfrm>
            <a:off x="1019592" y="1167944"/>
            <a:ext cx="6511885" cy="45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Structurés par impact business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5770" y="1859121"/>
            <a:ext cx="3881011" cy="1951911"/>
          </a:xfrm>
          <a:prstGeom prst="roundRect">
            <a:avLst>
              <a:gd name="adj" fmla="val 1112"/>
            </a:avLst>
          </a:prstGeom>
          <a:solidFill>
            <a:srgbClr val="404040"/>
          </a:solidFill>
          <a:ln/>
        </p:spPr>
      </p:sp>
      <p:sp>
        <p:nvSpPr>
          <p:cNvPr id="5" name="Shape 3"/>
          <p:cNvSpPr/>
          <p:nvPr/>
        </p:nvSpPr>
        <p:spPr>
          <a:xfrm>
            <a:off x="1263460" y="2105382"/>
            <a:ext cx="433983" cy="433983"/>
          </a:xfrm>
          <a:prstGeom prst="roundRect">
            <a:avLst>
              <a:gd name="adj" fmla="val 21067843"/>
            </a:avLst>
          </a:prstGeom>
          <a:solidFill>
            <a:srgbClr val="DCFF5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1949" y="2218195"/>
            <a:ext cx="195263" cy="195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98759" y="2235942"/>
            <a:ext cx="2386132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Gestion administrative</a:t>
            </a:r>
            <a:endParaRPr lang="en-US" b="1" dirty="0"/>
          </a:p>
        </p:txBody>
      </p:sp>
      <p:sp>
        <p:nvSpPr>
          <p:cNvPr id="8" name="Text 5"/>
          <p:cNvSpPr/>
          <p:nvPr/>
        </p:nvSpPr>
        <p:spPr>
          <a:xfrm>
            <a:off x="1381949" y="2838037"/>
            <a:ext cx="3224765" cy="63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Multi-écoles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Authentification avancée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Inscription digitale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287453" y="2006365"/>
            <a:ext cx="3533817" cy="1951911"/>
          </a:xfrm>
          <a:prstGeom prst="roundRect">
            <a:avLst>
              <a:gd name="adj" fmla="val 1112"/>
            </a:avLst>
          </a:prstGeom>
          <a:solidFill>
            <a:srgbClr val="404040"/>
          </a:solidFill>
          <a:ln/>
        </p:spPr>
      </p:sp>
      <p:sp>
        <p:nvSpPr>
          <p:cNvPr id="10" name="Shape 7"/>
          <p:cNvSpPr/>
          <p:nvPr/>
        </p:nvSpPr>
        <p:spPr>
          <a:xfrm>
            <a:off x="5511879" y="2129076"/>
            <a:ext cx="433983" cy="433983"/>
          </a:xfrm>
          <a:prstGeom prst="roundRect">
            <a:avLst>
              <a:gd name="adj" fmla="val 21067843"/>
            </a:avLst>
          </a:prstGeom>
          <a:solidFill>
            <a:srgbClr val="DCFF5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5201" y="2248376"/>
            <a:ext cx="195263" cy="195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83407" y="2248376"/>
            <a:ext cx="1843921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Suivi pédagogique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605201" y="2750982"/>
            <a:ext cx="3201869" cy="116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 &amp; bulletins</a:t>
            </a: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E-learning &amp; Bibliothèque</a:t>
            </a: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Présence</a:t>
            </a: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Fiche de discipline</a:t>
            </a:r>
          </a:p>
        </p:txBody>
      </p:sp>
      <p:sp>
        <p:nvSpPr>
          <p:cNvPr id="14" name="Shape 10"/>
          <p:cNvSpPr/>
          <p:nvPr/>
        </p:nvSpPr>
        <p:spPr>
          <a:xfrm>
            <a:off x="9304615" y="2035612"/>
            <a:ext cx="4052798" cy="1951911"/>
          </a:xfrm>
          <a:prstGeom prst="roundRect">
            <a:avLst>
              <a:gd name="adj" fmla="val 1112"/>
            </a:avLst>
          </a:prstGeom>
          <a:solidFill>
            <a:srgbClr val="404040"/>
          </a:solidFill>
          <a:ln/>
        </p:spPr>
      </p:sp>
      <p:sp>
        <p:nvSpPr>
          <p:cNvPr id="15" name="Shape 11"/>
          <p:cNvSpPr/>
          <p:nvPr/>
        </p:nvSpPr>
        <p:spPr>
          <a:xfrm>
            <a:off x="9486364" y="2123006"/>
            <a:ext cx="433983" cy="433983"/>
          </a:xfrm>
          <a:prstGeom prst="roundRect">
            <a:avLst>
              <a:gd name="adj" fmla="val 21067843"/>
            </a:avLst>
          </a:prstGeom>
          <a:solidFill>
            <a:srgbClr val="DCFF5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9408" y="2248376"/>
            <a:ext cx="195263" cy="195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109835" y="2189536"/>
            <a:ext cx="2494598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Revenus &amp; communication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9703355" y="2786268"/>
            <a:ext cx="3654057" cy="854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Paiements Mobile Money</a:t>
            </a: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Communication (parents)</a:t>
            </a:r>
          </a:p>
          <a:p>
            <a:pPr marL="342900" indent="-342900">
              <a:buSzPct val="100000"/>
              <a:buChar char="•"/>
            </a:pPr>
            <a:r>
              <a:rPr lang="en-US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Réunions</a:t>
            </a:r>
            <a:endParaRPr lang="en-US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Encadrement</a:t>
            </a:r>
            <a:endParaRPr lang="en-US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124145" y="4074675"/>
            <a:ext cx="1952387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ADAPTATION AFRIQUE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1798759" y="4475917"/>
            <a:ext cx="7380208" cy="45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Pensé dès le départ pour l'Afrique</a:t>
            </a:r>
            <a:endParaRPr lang="en-US" sz="3600" dirty="0"/>
          </a:p>
        </p:txBody>
      </p:sp>
      <p:sp>
        <p:nvSpPr>
          <p:cNvPr id="21" name="Text 16"/>
          <p:cNvSpPr/>
          <p:nvPr/>
        </p:nvSpPr>
        <p:spPr>
          <a:xfrm>
            <a:off x="1577212" y="4927997"/>
            <a:ext cx="10730041" cy="68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majorité des solutions internationales échouent ici parce qu'elles ne sont pas adaptées au contexte. E-School a été pensé dès le départ pour l'Afrique.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1830317" y="5613791"/>
            <a:ext cx="10663521" cy="2303916"/>
          </a:xfrm>
          <a:prstGeom prst="roundRect">
            <a:avLst>
              <a:gd name="adj" fmla="val 136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470777" y="5945170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Contrainte locale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7459020" y="5945170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Réponse E-School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2590810" y="6450234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Internet instable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7579053" y="6450234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 offline-first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2590810" y="6765749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Paiements cash</a:t>
            </a:r>
            <a:endParaRPr lang="en-US" sz="2000" dirty="0"/>
          </a:p>
        </p:txBody>
      </p:sp>
      <p:sp>
        <p:nvSpPr>
          <p:cNvPr id="31" name="Text 26"/>
          <p:cNvSpPr/>
          <p:nvPr/>
        </p:nvSpPr>
        <p:spPr>
          <a:xfrm>
            <a:off x="7579053" y="6765749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Money intégré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2590810" y="7081265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Coût SMS élevé</a:t>
            </a:r>
            <a:endParaRPr lang="en-US" sz="2000" dirty="0"/>
          </a:p>
        </p:txBody>
      </p:sp>
      <p:sp>
        <p:nvSpPr>
          <p:cNvPr id="34" name="Text 29"/>
          <p:cNvSpPr/>
          <p:nvPr/>
        </p:nvSpPr>
        <p:spPr>
          <a:xfrm>
            <a:off x="7579053" y="7081265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optimisée</a:t>
            </a:r>
            <a:endParaRPr lang="en-US" sz="2000" dirty="0"/>
          </a:p>
        </p:txBody>
      </p:sp>
      <p:sp>
        <p:nvSpPr>
          <p:cNvPr id="36" name="Text 31"/>
          <p:cNvSpPr/>
          <p:nvPr/>
        </p:nvSpPr>
        <p:spPr>
          <a:xfrm>
            <a:off x="2590810" y="7396781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Multiplicité écoles</a:t>
            </a:r>
            <a:endParaRPr lang="en-US" sz="2000" dirty="0"/>
          </a:p>
        </p:txBody>
      </p:sp>
      <p:sp>
        <p:nvSpPr>
          <p:cNvPr id="37" name="Text 32"/>
          <p:cNvSpPr/>
          <p:nvPr/>
        </p:nvSpPr>
        <p:spPr>
          <a:xfrm>
            <a:off x="7579053" y="7396781"/>
            <a:ext cx="4691301" cy="18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SaaS</a:t>
            </a:r>
            <a:endParaRPr lang="en-US" sz="2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CE678C-5145-0BD2-F411-17C44EBECD14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811887"/>
            <a:ext cx="3931801" cy="481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MODÈLE ÉCONOMIQUE</a:t>
            </a:r>
          </a:p>
        </p:txBody>
      </p:sp>
      <p:sp>
        <p:nvSpPr>
          <p:cNvPr id="3" name="Text 1"/>
          <p:cNvSpPr/>
          <p:nvPr/>
        </p:nvSpPr>
        <p:spPr>
          <a:xfrm>
            <a:off x="674489" y="1703070"/>
            <a:ext cx="3122652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Revenus principaux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4489" y="2228136"/>
            <a:ext cx="6405682" cy="131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Abonnement mensuel par école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Commission sur paiements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Installation &amp; formation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Modules premium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57849" y="1703070"/>
            <a:ext cx="3469600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Modèle SaaS scalable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57849" y="2287229"/>
            <a:ext cx="4580363" cy="71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Plus </a:t>
            </a:r>
            <a:r>
              <a:rPr lang="en-US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d'écoles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plus de </a:t>
            </a:r>
            <a:r>
              <a:rPr lang="en-US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revenus</a:t>
            </a:r>
            <a:endParaRPr lang="en-US" sz="2000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200"/>
              </a:lnSpc>
              <a:buNone/>
            </a:pPr>
            <a:endParaRPr lang="en-US" sz="2000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Coûts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fixes </a:t>
            </a:r>
            <a:r>
              <a:rPr lang="en-US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relativement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stables</a:t>
            </a:r>
          </a:p>
        </p:txBody>
      </p:sp>
      <p:sp>
        <p:nvSpPr>
          <p:cNvPr id="8" name="Shape 6"/>
          <p:cNvSpPr/>
          <p:nvPr/>
        </p:nvSpPr>
        <p:spPr>
          <a:xfrm>
            <a:off x="674489" y="3878307"/>
            <a:ext cx="13281422" cy="31671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74489" y="4155519"/>
            <a:ext cx="4856917" cy="481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PROJECTION FINANCIÈRE</a:t>
            </a:r>
          </a:p>
        </p:txBody>
      </p:sp>
      <p:sp>
        <p:nvSpPr>
          <p:cNvPr id="10" name="Text 8"/>
          <p:cNvSpPr/>
          <p:nvPr/>
        </p:nvSpPr>
        <p:spPr>
          <a:xfrm>
            <a:off x="674489" y="4702850"/>
            <a:ext cx="5665351" cy="397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 err="1"/>
              <a:t>Abonnnement</a:t>
            </a:r>
            <a:r>
              <a:rPr lang="en-US" sz="2800" dirty="0"/>
              <a:t>  : 800-1000 $</a:t>
            </a:r>
          </a:p>
        </p:txBody>
      </p:sp>
      <p:sp>
        <p:nvSpPr>
          <p:cNvPr id="11" name="Text 9"/>
          <p:cNvSpPr/>
          <p:nvPr/>
        </p:nvSpPr>
        <p:spPr>
          <a:xfrm>
            <a:off x="1183341" y="5309830"/>
            <a:ext cx="12772570" cy="9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Frais </a:t>
            </a:r>
            <a:r>
              <a:rPr lang="en-US" sz="20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mensualité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: 200 – 300 $</a:t>
            </a: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E3B351-CF8A-BED2-0C55-4C05B42589CC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7449" y="769032"/>
            <a:ext cx="2022515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PARTENARIAT</a:t>
            </a:r>
            <a:endParaRPr lang="en-US" sz="4400" dirty="0">
              <a:solidFill>
                <a:srgbClr val="00B0F0"/>
              </a:solidFill>
              <a:latin typeface="Roboto Mono Medium" pitchFamily="34" charset="0"/>
              <a:ea typeface="Roboto Mono Medium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732955" y="1462326"/>
            <a:ext cx="9708594" cy="50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Construire une solution EdTech dominante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732955" y="2256353"/>
            <a:ext cx="2426970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Vous 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94642" y="2674977"/>
            <a:ext cx="5384959" cy="74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Déploiement terrain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Prospection commerciale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 institutionnelle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20107" y="2256353"/>
            <a:ext cx="2426970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Nous 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99401" y="2674977"/>
            <a:ext cx="5384959" cy="100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Technologie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Maintenance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Évolutions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technique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732955" y="3933795"/>
            <a:ext cx="11164491" cy="27742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732955" y="4134564"/>
            <a:ext cx="3236000" cy="404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</a:rPr>
              <a:t>VISION 3 ANS</a:t>
            </a: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955" y="4712137"/>
            <a:ext cx="5582245" cy="6471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94642" y="5474613"/>
            <a:ext cx="206252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200 écoles en RDC</a:t>
            </a:r>
            <a:endParaRPr lang="en-US" sz="2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712137"/>
            <a:ext cx="5582245" cy="6471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6887" y="5474613"/>
            <a:ext cx="3154442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Expansion Afrique centrale</a:t>
            </a:r>
            <a:endParaRPr lang="en-US" sz="2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955" y="5889069"/>
            <a:ext cx="5582245" cy="6471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94642" y="6651546"/>
            <a:ext cx="254781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Module Analytics &amp; BI</a:t>
            </a:r>
            <a:endParaRPr lang="en-US" sz="2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889069"/>
            <a:ext cx="5582245" cy="64710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76887" y="6651546"/>
            <a:ext cx="4852868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Intégration complète Mobile Money locale</a:t>
            </a:r>
            <a:endParaRPr lang="en-US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F8B2CD-8CA8-BF3D-895A-4A52D157A395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427" y="744981"/>
            <a:ext cx="2377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4400" dirty="0">
                <a:solidFill>
                  <a:srgbClr val="00B0F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CONCLUSION FORTE</a:t>
            </a:r>
            <a:endParaRPr lang="en-US" sz="44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53427" y="1708071"/>
            <a:ext cx="13123545" cy="356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Allons-nous structurer cette opportunité </a:t>
            </a:r>
            <a:r>
              <a:rPr lang="en-US" sz="660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maintenant</a:t>
            </a:r>
            <a:r>
              <a:rPr lang="en-US" sz="6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?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753427" y="5513070"/>
            <a:ext cx="4268153" cy="692706"/>
          </a:xfrm>
          <a:prstGeom prst="roundRect">
            <a:avLst>
              <a:gd name="adj" fmla="val 4119"/>
            </a:avLst>
          </a:prstGeom>
          <a:solidFill>
            <a:srgbClr val="404040"/>
          </a:solidFill>
          <a:ln/>
        </p:spPr>
      </p:sp>
      <p:sp>
        <p:nvSpPr>
          <p:cNvPr id="5" name="Text 3"/>
          <p:cNvSpPr/>
          <p:nvPr/>
        </p:nvSpPr>
        <p:spPr>
          <a:xfrm>
            <a:off x="943570" y="5703213"/>
            <a:ext cx="2377440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✔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Produit prêt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181005" y="5513070"/>
            <a:ext cx="4268272" cy="692706"/>
          </a:xfrm>
          <a:prstGeom prst="roundRect">
            <a:avLst>
              <a:gd name="adj" fmla="val 4119"/>
            </a:avLst>
          </a:prstGeom>
          <a:solidFill>
            <a:srgbClr val="404040"/>
          </a:solidFill>
          <a:ln/>
        </p:spPr>
      </p:sp>
      <p:sp>
        <p:nvSpPr>
          <p:cNvPr id="7" name="Text 5"/>
          <p:cNvSpPr/>
          <p:nvPr/>
        </p:nvSpPr>
        <p:spPr>
          <a:xfrm>
            <a:off x="5371148" y="5703213"/>
            <a:ext cx="2377440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✔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Marché réel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608701" y="5513070"/>
            <a:ext cx="4268153" cy="692706"/>
          </a:xfrm>
          <a:prstGeom prst="roundRect">
            <a:avLst>
              <a:gd name="adj" fmla="val 4119"/>
            </a:avLst>
          </a:prstGeom>
          <a:solidFill>
            <a:srgbClr val="404040"/>
          </a:solidFill>
          <a:ln/>
        </p:spPr>
      </p:sp>
      <p:sp>
        <p:nvSpPr>
          <p:cNvPr id="9" name="Text 7"/>
          <p:cNvSpPr/>
          <p:nvPr/>
        </p:nvSpPr>
        <p:spPr>
          <a:xfrm>
            <a:off x="9798844" y="5703213"/>
            <a:ext cx="2863096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✔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Business scalable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53427" y="6365200"/>
            <a:ext cx="13123426" cy="692706"/>
          </a:xfrm>
          <a:prstGeom prst="roundRect">
            <a:avLst>
              <a:gd name="adj" fmla="val 4119"/>
            </a:avLst>
          </a:prstGeom>
          <a:solidFill>
            <a:srgbClr val="404040"/>
          </a:solidFill>
          <a:ln/>
        </p:spPr>
      </p:sp>
      <p:sp>
        <p:nvSpPr>
          <p:cNvPr id="11" name="Text 9"/>
          <p:cNvSpPr/>
          <p:nvPr/>
        </p:nvSpPr>
        <p:spPr>
          <a:xfrm>
            <a:off x="943570" y="6555343"/>
            <a:ext cx="4289227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✔</a:t>
            </a:r>
            <a:r>
              <a:rPr lang="en-US" sz="24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Adapté au contexte africain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BCEF04-1383-6DC1-9074-AB05CB79E644}"/>
              </a:ext>
            </a:extLst>
          </p:cNvPr>
          <p:cNvSpPr/>
          <p:nvPr/>
        </p:nvSpPr>
        <p:spPr>
          <a:xfrm>
            <a:off x="12456160" y="7619102"/>
            <a:ext cx="2153920" cy="590178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521</Words>
  <Application>Microsoft Office PowerPoint</Application>
  <PresentationFormat>Personnalisé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Roboto Mono Medium</vt:lpstr>
      <vt:lpstr>Roboto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Alidor SABUE</cp:lastModifiedBy>
  <cp:revision>7</cp:revision>
  <dcterms:created xsi:type="dcterms:W3CDTF">2026-02-17T21:52:29Z</dcterms:created>
  <dcterms:modified xsi:type="dcterms:W3CDTF">2026-02-22T18:07:31Z</dcterms:modified>
</cp:coreProperties>
</file>